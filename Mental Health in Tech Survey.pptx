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677e88b4fc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677e88b4fc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677e88b4fc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677e88b4fc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677e88b4f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677e88b4f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677e88b4fc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677e88b4fc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677e88b4fc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677e88b4fc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677e88b4fc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677e88b4fc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677e88b4fc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677e88b4fc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677e88b4fc_1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677e88b4fc_1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677e88b4fc_27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677e88b4fc_27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www.kaggle.com/osmi/mental-health-in-tech-2016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osmihelp.org/research/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600">
                <a:solidFill>
                  <a:srgbClr val="202124"/>
                </a:solidFill>
                <a:highlight>
                  <a:srgbClr val="FFFFFF"/>
                </a:highlight>
              </a:rPr>
              <a:t>Mental Health in Tech Survey</a:t>
            </a:r>
            <a:endParaRPr b="1" sz="2600">
              <a:solidFill>
                <a:srgbClr val="202124"/>
              </a:solidFill>
              <a:highlight>
                <a:srgbClr val="FFFFFF"/>
              </a:highlight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2" name="Google Shape;62;p14" title="Screenshot 2025-06-22 at 6.04.11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198"/>
            <a:ext cx="9144002" cy="47451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9" name="Google Shape;69;p15" title="Screenshot 2025-06-22 at 6.04.48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901019"/>
            <a:ext cx="9143999" cy="33414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10000"/>
          </a:bodyPr>
          <a:lstStyle/>
          <a:p>
            <a:pPr indent="0" lvl="0" marL="0" marR="11430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b="1" lang="en">
                <a:solidFill>
                  <a:srgbClr val="202124"/>
                </a:solidFill>
                <a:highlight>
                  <a:srgbClr val="FFFFFF"/>
                </a:highlight>
              </a:rPr>
              <a:t>About Dataset</a:t>
            </a:r>
            <a:endParaRPr b="1">
              <a:solidFill>
                <a:srgbClr val="202124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81481"/>
              <a:buFont typeface="Arial"/>
              <a:buNone/>
            </a:pPr>
            <a:r>
              <a:rPr b="1" lang="en" sz="1350">
                <a:solidFill>
                  <a:srgbClr val="202124"/>
                </a:solidFill>
                <a:highlight>
                  <a:srgbClr val="FFFFFF"/>
                </a:highlight>
              </a:rPr>
              <a:t>Dataset Information</a:t>
            </a:r>
            <a:endParaRPr b="1" sz="1350">
              <a:solidFill>
                <a:srgbClr val="202124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7142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ct val="104762"/>
              <a:buFont typeface="Arial"/>
              <a:buNone/>
            </a:pPr>
            <a:r>
              <a:rPr lang="en" sz="1050">
                <a:solidFill>
                  <a:srgbClr val="3C4043"/>
                </a:solidFill>
                <a:highlight>
                  <a:srgbClr val="FFFFFF"/>
                </a:highlight>
              </a:rPr>
              <a:t>This dataset is from a 2014 survey that measures attitudes towards mental health and frequency of mental health disorders in the tech workplace. You are also encouraged to analyze data from the </a:t>
            </a:r>
            <a:r>
              <a:rPr lang="en" sz="1050">
                <a:solidFill>
                  <a:srgbClr val="202124"/>
                </a:solidFill>
                <a:highlight>
                  <a:srgbClr val="FFFFFF"/>
                </a:highlight>
                <a:uFill>
                  <a:noFill/>
                </a:u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ongoing 2016 survey found here</a:t>
            </a:r>
            <a:r>
              <a:rPr lang="en" sz="1050">
                <a:solidFill>
                  <a:srgbClr val="3C4043"/>
                </a:solidFill>
                <a:highlight>
                  <a:srgbClr val="FFFFFF"/>
                </a:highlight>
              </a:rPr>
              <a:t>.</a:t>
            </a:r>
            <a:endParaRPr sz="1050">
              <a:solidFill>
                <a:srgbClr val="3C4043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22222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ct val="81481"/>
              <a:buFont typeface="Arial"/>
              <a:buNone/>
            </a:pPr>
            <a:r>
              <a:rPr b="1" lang="en" sz="1350">
                <a:solidFill>
                  <a:srgbClr val="202124"/>
                </a:solidFill>
                <a:highlight>
                  <a:srgbClr val="FFFFFF"/>
                </a:highlight>
              </a:rPr>
              <a:t>Content</a:t>
            </a:r>
            <a:endParaRPr b="1" sz="1350">
              <a:solidFill>
                <a:srgbClr val="202124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7142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ct val="104762"/>
              <a:buFont typeface="Arial"/>
              <a:buNone/>
            </a:pPr>
            <a:r>
              <a:rPr lang="en" sz="1050">
                <a:solidFill>
                  <a:srgbClr val="3C4043"/>
                </a:solidFill>
                <a:highlight>
                  <a:srgbClr val="FFFFFF"/>
                </a:highlight>
              </a:rPr>
              <a:t>This dataset contains the following data:</a:t>
            </a:r>
            <a:endParaRPr sz="1050">
              <a:solidFill>
                <a:srgbClr val="3C4043"/>
              </a:solidFill>
              <a:highlight>
                <a:srgbClr val="FFFFFF"/>
              </a:highlight>
            </a:endParaRPr>
          </a:p>
          <a:p>
            <a:pPr indent="-280273" lvl="0" marL="457200" rtl="0" algn="l">
              <a:spcBef>
                <a:spcPts val="2400"/>
              </a:spcBef>
              <a:spcAft>
                <a:spcPts val="0"/>
              </a:spcAft>
              <a:buClr>
                <a:srgbClr val="3C4043"/>
              </a:buClr>
              <a:buSzPct val="100000"/>
              <a:buChar char="●"/>
            </a:pPr>
            <a:r>
              <a:rPr b="1" lang="en" sz="1050">
                <a:solidFill>
                  <a:srgbClr val="3C4043"/>
                </a:solidFill>
                <a:highlight>
                  <a:srgbClr val="FFFFFF"/>
                </a:highlight>
              </a:rPr>
              <a:t>Timestamp</a:t>
            </a:r>
            <a:endParaRPr b="1" sz="1050">
              <a:solidFill>
                <a:srgbClr val="3C4043"/>
              </a:solidFill>
              <a:highlight>
                <a:srgbClr val="FFFFFF"/>
              </a:highlight>
            </a:endParaRPr>
          </a:p>
          <a:p>
            <a:pPr indent="-280273" lvl="0" marL="457200" rtl="0" algn="l">
              <a:spcBef>
                <a:spcPts val="0"/>
              </a:spcBef>
              <a:spcAft>
                <a:spcPts val="0"/>
              </a:spcAft>
              <a:buClr>
                <a:srgbClr val="3C4043"/>
              </a:buClr>
              <a:buSzPct val="100000"/>
              <a:buChar char="●"/>
            </a:pPr>
            <a:r>
              <a:rPr b="1" lang="en" sz="1050">
                <a:solidFill>
                  <a:srgbClr val="3C4043"/>
                </a:solidFill>
                <a:highlight>
                  <a:srgbClr val="FFFFFF"/>
                </a:highlight>
              </a:rPr>
              <a:t>Age</a:t>
            </a:r>
            <a:endParaRPr b="1" sz="1050">
              <a:solidFill>
                <a:srgbClr val="3C4043"/>
              </a:solidFill>
              <a:highlight>
                <a:srgbClr val="FFFFFF"/>
              </a:highlight>
            </a:endParaRPr>
          </a:p>
          <a:p>
            <a:pPr indent="-280273" lvl="0" marL="457200" rtl="0" algn="l">
              <a:spcBef>
                <a:spcPts val="0"/>
              </a:spcBef>
              <a:spcAft>
                <a:spcPts val="0"/>
              </a:spcAft>
              <a:buClr>
                <a:srgbClr val="3C4043"/>
              </a:buClr>
              <a:buSzPct val="100000"/>
              <a:buChar char="●"/>
            </a:pPr>
            <a:r>
              <a:rPr b="1" lang="en" sz="1050">
                <a:solidFill>
                  <a:srgbClr val="3C4043"/>
                </a:solidFill>
                <a:highlight>
                  <a:srgbClr val="FFFFFF"/>
                </a:highlight>
              </a:rPr>
              <a:t>Gender</a:t>
            </a:r>
            <a:endParaRPr b="1" sz="1050">
              <a:solidFill>
                <a:srgbClr val="3C4043"/>
              </a:solidFill>
              <a:highlight>
                <a:srgbClr val="FFFFFF"/>
              </a:highlight>
            </a:endParaRPr>
          </a:p>
          <a:p>
            <a:pPr indent="-280273" lvl="0" marL="457200" rtl="0" algn="l">
              <a:spcBef>
                <a:spcPts val="0"/>
              </a:spcBef>
              <a:spcAft>
                <a:spcPts val="0"/>
              </a:spcAft>
              <a:buClr>
                <a:srgbClr val="3C4043"/>
              </a:buClr>
              <a:buSzPct val="100000"/>
              <a:buChar char="●"/>
            </a:pPr>
            <a:r>
              <a:rPr b="1" lang="en" sz="1050">
                <a:solidFill>
                  <a:srgbClr val="3C4043"/>
                </a:solidFill>
                <a:highlight>
                  <a:srgbClr val="FFFFFF"/>
                </a:highlight>
              </a:rPr>
              <a:t>Country</a:t>
            </a:r>
            <a:endParaRPr b="1" sz="1050">
              <a:solidFill>
                <a:srgbClr val="3C4043"/>
              </a:solidFill>
              <a:highlight>
                <a:srgbClr val="FFFFFF"/>
              </a:highlight>
            </a:endParaRPr>
          </a:p>
          <a:p>
            <a:pPr indent="-280273" lvl="0" marL="457200" rtl="0" algn="l">
              <a:spcBef>
                <a:spcPts val="0"/>
              </a:spcBef>
              <a:spcAft>
                <a:spcPts val="0"/>
              </a:spcAft>
              <a:buClr>
                <a:srgbClr val="3C4043"/>
              </a:buClr>
              <a:buSzPct val="100000"/>
              <a:buChar char="●"/>
            </a:pPr>
            <a:r>
              <a:rPr b="1" lang="en" sz="1050">
                <a:solidFill>
                  <a:srgbClr val="3C4043"/>
                </a:solidFill>
                <a:highlight>
                  <a:srgbClr val="FFFFFF"/>
                </a:highlight>
              </a:rPr>
              <a:t>state</a:t>
            </a:r>
            <a:r>
              <a:rPr lang="en" sz="1050">
                <a:solidFill>
                  <a:srgbClr val="3C4043"/>
                </a:solidFill>
                <a:highlight>
                  <a:srgbClr val="FFFFFF"/>
                </a:highlight>
              </a:rPr>
              <a:t>: If you live in the United States, which state or territory do you live in?</a:t>
            </a:r>
            <a:endParaRPr sz="1050">
              <a:solidFill>
                <a:srgbClr val="3C4043"/>
              </a:solidFill>
              <a:highlight>
                <a:srgbClr val="FFFFFF"/>
              </a:highlight>
            </a:endParaRPr>
          </a:p>
          <a:p>
            <a:pPr indent="-280273" lvl="0" marL="457200" rtl="0" algn="l">
              <a:spcBef>
                <a:spcPts val="0"/>
              </a:spcBef>
              <a:spcAft>
                <a:spcPts val="0"/>
              </a:spcAft>
              <a:buClr>
                <a:srgbClr val="3C4043"/>
              </a:buClr>
              <a:buSzPct val="100000"/>
              <a:buChar char="●"/>
            </a:pPr>
            <a:r>
              <a:rPr b="1" lang="en" sz="1050">
                <a:solidFill>
                  <a:srgbClr val="3C4043"/>
                </a:solidFill>
                <a:highlight>
                  <a:srgbClr val="FFFFFF"/>
                </a:highlight>
              </a:rPr>
              <a:t>self_employed</a:t>
            </a:r>
            <a:r>
              <a:rPr lang="en" sz="1050">
                <a:solidFill>
                  <a:srgbClr val="3C4043"/>
                </a:solidFill>
                <a:highlight>
                  <a:srgbClr val="FFFFFF"/>
                </a:highlight>
              </a:rPr>
              <a:t>: Are you self-employed?</a:t>
            </a:r>
            <a:endParaRPr sz="1050">
              <a:solidFill>
                <a:srgbClr val="3C4043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24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5275" lvl="0" marL="457200" rtl="0" algn="l">
              <a:spcBef>
                <a:spcPts val="2400"/>
              </a:spcBef>
              <a:spcAft>
                <a:spcPts val="0"/>
              </a:spcAft>
              <a:buClr>
                <a:srgbClr val="3C4043"/>
              </a:buClr>
              <a:buSzPts val="1050"/>
              <a:buChar char="●"/>
            </a:pPr>
            <a:r>
              <a:rPr b="1" lang="en" sz="1050">
                <a:solidFill>
                  <a:srgbClr val="3C4043"/>
                </a:solidFill>
              </a:rPr>
              <a:t>family_history</a:t>
            </a:r>
            <a:r>
              <a:rPr lang="en" sz="1050">
                <a:solidFill>
                  <a:srgbClr val="3C4043"/>
                </a:solidFill>
              </a:rPr>
              <a:t>: Do you have a family history of mental illness?</a:t>
            </a:r>
            <a:endParaRPr sz="1050">
              <a:solidFill>
                <a:srgbClr val="3C4043"/>
              </a:solidFill>
            </a:endParaRPr>
          </a:p>
          <a:p>
            <a:pPr indent="-295275" lvl="0" marL="457200" rtl="0" algn="l">
              <a:spcBef>
                <a:spcPts val="0"/>
              </a:spcBef>
              <a:spcAft>
                <a:spcPts val="0"/>
              </a:spcAft>
              <a:buClr>
                <a:srgbClr val="3C4043"/>
              </a:buClr>
              <a:buSzPts val="1050"/>
              <a:buChar char="●"/>
            </a:pPr>
            <a:r>
              <a:rPr b="1" lang="en" sz="1050">
                <a:solidFill>
                  <a:srgbClr val="3C4043"/>
                </a:solidFill>
              </a:rPr>
              <a:t>treatment</a:t>
            </a:r>
            <a:r>
              <a:rPr lang="en" sz="1050">
                <a:solidFill>
                  <a:srgbClr val="3C4043"/>
                </a:solidFill>
              </a:rPr>
              <a:t>: Have you sought treatment for a mental health condition?</a:t>
            </a:r>
            <a:endParaRPr sz="1050">
              <a:solidFill>
                <a:srgbClr val="3C4043"/>
              </a:solidFill>
            </a:endParaRPr>
          </a:p>
          <a:p>
            <a:pPr indent="-295275" lvl="0" marL="457200" rtl="0" algn="l">
              <a:spcBef>
                <a:spcPts val="0"/>
              </a:spcBef>
              <a:spcAft>
                <a:spcPts val="0"/>
              </a:spcAft>
              <a:buClr>
                <a:srgbClr val="3C4043"/>
              </a:buClr>
              <a:buSzPts val="1050"/>
              <a:buChar char="●"/>
            </a:pPr>
            <a:r>
              <a:rPr b="1" lang="en" sz="1050">
                <a:solidFill>
                  <a:srgbClr val="3C4043"/>
                </a:solidFill>
              </a:rPr>
              <a:t>work_interfere</a:t>
            </a:r>
            <a:r>
              <a:rPr lang="en" sz="1050">
                <a:solidFill>
                  <a:srgbClr val="3C4043"/>
                </a:solidFill>
              </a:rPr>
              <a:t>: If you have a mental health condition, do you feel that it interferes with your work?</a:t>
            </a:r>
            <a:endParaRPr sz="1050">
              <a:solidFill>
                <a:srgbClr val="3C4043"/>
              </a:solidFill>
            </a:endParaRPr>
          </a:p>
          <a:p>
            <a:pPr indent="-295275" lvl="0" marL="457200" rtl="0" algn="l">
              <a:spcBef>
                <a:spcPts val="0"/>
              </a:spcBef>
              <a:spcAft>
                <a:spcPts val="0"/>
              </a:spcAft>
              <a:buClr>
                <a:srgbClr val="3C4043"/>
              </a:buClr>
              <a:buSzPts val="1050"/>
              <a:buChar char="●"/>
            </a:pPr>
            <a:r>
              <a:rPr b="1" lang="en" sz="1050">
                <a:solidFill>
                  <a:srgbClr val="3C4043"/>
                </a:solidFill>
              </a:rPr>
              <a:t>no_employees</a:t>
            </a:r>
            <a:r>
              <a:rPr lang="en" sz="1050">
                <a:solidFill>
                  <a:srgbClr val="3C4043"/>
                </a:solidFill>
              </a:rPr>
              <a:t>: How many employees does your company or organization have?</a:t>
            </a:r>
            <a:endParaRPr sz="1050">
              <a:solidFill>
                <a:srgbClr val="3C4043"/>
              </a:solidFill>
            </a:endParaRPr>
          </a:p>
          <a:p>
            <a:pPr indent="-295275" lvl="0" marL="457200" rtl="0" algn="l">
              <a:spcBef>
                <a:spcPts val="0"/>
              </a:spcBef>
              <a:spcAft>
                <a:spcPts val="0"/>
              </a:spcAft>
              <a:buClr>
                <a:srgbClr val="3C4043"/>
              </a:buClr>
              <a:buSzPts val="1050"/>
              <a:buChar char="●"/>
            </a:pPr>
            <a:r>
              <a:rPr b="1" lang="en" sz="1050">
                <a:solidFill>
                  <a:srgbClr val="3C4043"/>
                </a:solidFill>
              </a:rPr>
              <a:t>remote_work</a:t>
            </a:r>
            <a:r>
              <a:rPr lang="en" sz="1050">
                <a:solidFill>
                  <a:srgbClr val="3C4043"/>
                </a:solidFill>
              </a:rPr>
              <a:t>: Do you work remotely (outside of an office) at least 50% of the time?</a:t>
            </a:r>
            <a:endParaRPr sz="1050">
              <a:solidFill>
                <a:srgbClr val="3C4043"/>
              </a:solidFill>
            </a:endParaRPr>
          </a:p>
          <a:p>
            <a:pPr indent="-295275" lvl="0" marL="457200" rtl="0" algn="l">
              <a:spcBef>
                <a:spcPts val="0"/>
              </a:spcBef>
              <a:spcAft>
                <a:spcPts val="0"/>
              </a:spcAft>
              <a:buClr>
                <a:srgbClr val="3C4043"/>
              </a:buClr>
              <a:buSzPts val="1050"/>
              <a:buChar char="●"/>
            </a:pPr>
            <a:r>
              <a:rPr b="1" lang="en" sz="1050">
                <a:solidFill>
                  <a:srgbClr val="3C4043"/>
                </a:solidFill>
              </a:rPr>
              <a:t>tech_company</a:t>
            </a:r>
            <a:r>
              <a:rPr lang="en" sz="1050">
                <a:solidFill>
                  <a:srgbClr val="3C4043"/>
                </a:solidFill>
              </a:rPr>
              <a:t>: Is your employer primarily a tech company/organization?</a:t>
            </a:r>
            <a:endParaRPr sz="1050">
              <a:solidFill>
                <a:srgbClr val="3C4043"/>
              </a:solidFill>
            </a:endParaRPr>
          </a:p>
          <a:p>
            <a:pPr indent="-295275" lvl="0" marL="457200" rtl="0" algn="l">
              <a:spcBef>
                <a:spcPts val="0"/>
              </a:spcBef>
              <a:spcAft>
                <a:spcPts val="0"/>
              </a:spcAft>
              <a:buClr>
                <a:srgbClr val="3C4043"/>
              </a:buClr>
              <a:buSzPts val="1050"/>
              <a:buChar char="●"/>
            </a:pPr>
            <a:r>
              <a:rPr b="1" lang="en" sz="1050">
                <a:solidFill>
                  <a:srgbClr val="3C4043"/>
                </a:solidFill>
              </a:rPr>
              <a:t>benefits</a:t>
            </a:r>
            <a:r>
              <a:rPr lang="en" sz="1050">
                <a:solidFill>
                  <a:srgbClr val="3C4043"/>
                </a:solidFill>
              </a:rPr>
              <a:t>: Does your employer provide mental health benefits?</a:t>
            </a:r>
            <a:endParaRPr sz="1050">
              <a:solidFill>
                <a:srgbClr val="3C4043"/>
              </a:solidFill>
            </a:endParaRPr>
          </a:p>
          <a:p>
            <a:pPr indent="-295275" lvl="0" marL="457200" rtl="0" algn="l">
              <a:spcBef>
                <a:spcPts val="0"/>
              </a:spcBef>
              <a:spcAft>
                <a:spcPts val="0"/>
              </a:spcAft>
              <a:buClr>
                <a:srgbClr val="3C4043"/>
              </a:buClr>
              <a:buSzPts val="1050"/>
              <a:buChar char="●"/>
            </a:pPr>
            <a:r>
              <a:rPr b="1" lang="en" sz="1050">
                <a:solidFill>
                  <a:srgbClr val="3C4043"/>
                </a:solidFill>
              </a:rPr>
              <a:t>care_options</a:t>
            </a:r>
            <a:r>
              <a:rPr lang="en" sz="1050">
                <a:solidFill>
                  <a:srgbClr val="3C4043"/>
                </a:solidFill>
              </a:rPr>
              <a:t>: Do you know the options for mental health care your employer provides?</a:t>
            </a:r>
            <a:endParaRPr sz="1050">
              <a:solidFill>
                <a:srgbClr val="3C4043"/>
              </a:solidFill>
            </a:endParaRPr>
          </a:p>
          <a:p>
            <a:pPr indent="-295275" lvl="0" marL="457200" rtl="0" algn="l">
              <a:spcBef>
                <a:spcPts val="0"/>
              </a:spcBef>
              <a:spcAft>
                <a:spcPts val="0"/>
              </a:spcAft>
              <a:buClr>
                <a:srgbClr val="3C4043"/>
              </a:buClr>
              <a:buSzPts val="1050"/>
              <a:buChar char="●"/>
            </a:pPr>
            <a:r>
              <a:rPr b="1" lang="en" sz="1050">
                <a:solidFill>
                  <a:srgbClr val="3C4043"/>
                </a:solidFill>
              </a:rPr>
              <a:t>wellness_program</a:t>
            </a:r>
            <a:r>
              <a:rPr lang="en" sz="1050">
                <a:solidFill>
                  <a:srgbClr val="3C4043"/>
                </a:solidFill>
              </a:rPr>
              <a:t>: Has your employer ever discussed mental health as part of an employee wellness program?</a:t>
            </a:r>
            <a:endParaRPr sz="1050">
              <a:solidFill>
                <a:srgbClr val="3C4043"/>
              </a:solidFill>
            </a:endParaRPr>
          </a:p>
          <a:p>
            <a:pPr indent="0" lvl="0" marL="0" rtl="0" algn="l">
              <a:spcBef>
                <a:spcPts val="24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5275" lvl="0" marL="457200" rtl="0" algn="l">
              <a:spcBef>
                <a:spcPts val="2400"/>
              </a:spcBef>
              <a:spcAft>
                <a:spcPts val="0"/>
              </a:spcAft>
              <a:buClr>
                <a:srgbClr val="3C4043"/>
              </a:buClr>
              <a:buSzPts val="1050"/>
              <a:buChar char="●"/>
            </a:pPr>
            <a:r>
              <a:rPr b="1" lang="en" sz="1050">
                <a:solidFill>
                  <a:srgbClr val="3C4043"/>
                </a:solidFill>
              </a:rPr>
              <a:t>seek_help</a:t>
            </a:r>
            <a:r>
              <a:rPr lang="en" sz="1050">
                <a:solidFill>
                  <a:srgbClr val="3C4043"/>
                </a:solidFill>
              </a:rPr>
              <a:t>: Does your employer provide resources to learn more about mental health issues and how to seek help?</a:t>
            </a:r>
            <a:endParaRPr sz="1050">
              <a:solidFill>
                <a:srgbClr val="3C4043"/>
              </a:solidFill>
            </a:endParaRPr>
          </a:p>
          <a:p>
            <a:pPr indent="-295275" lvl="0" marL="457200" rtl="0" algn="l">
              <a:spcBef>
                <a:spcPts val="0"/>
              </a:spcBef>
              <a:spcAft>
                <a:spcPts val="0"/>
              </a:spcAft>
              <a:buClr>
                <a:srgbClr val="3C4043"/>
              </a:buClr>
              <a:buSzPts val="1050"/>
              <a:buChar char="●"/>
            </a:pPr>
            <a:r>
              <a:rPr b="1" lang="en" sz="1050">
                <a:solidFill>
                  <a:srgbClr val="3C4043"/>
                </a:solidFill>
              </a:rPr>
              <a:t>anonymity</a:t>
            </a:r>
            <a:r>
              <a:rPr lang="en" sz="1050">
                <a:solidFill>
                  <a:srgbClr val="3C4043"/>
                </a:solidFill>
              </a:rPr>
              <a:t>: Is your anonymity protected if you choose to take advantage of mental health or substance abuse treatment resources?</a:t>
            </a:r>
            <a:endParaRPr sz="1050">
              <a:solidFill>
                <a:srgbClr val="3C4043"/>
              </a:solidFill>
            </a:endParaRPr>
          </a:p>
          <a:p>
            <a:pPr indent="-295275" lvl="0" marL="457200" rtl="0" algn="l">
              <a:spcBef>
                <a:spcPts val="0"/>
              </a:spcBef>
              <a:spcAft>
                <a:spcPts val="0"/>
              </a:spcAft>
              <a:buClr>
                <a:srgbClr val="3C4043"/>
              </a:buClr>
              <a:buSzPts val="1050"/>
              <a:buChar char="●"/>
            </a:pPr>
            <a:r>
              <a:rPr b="1" lang="en" sz="1050">
                <a:solidFill>
                  <a:srgbClr val="3C4043"/>
                </a:solidFill>
              </a:rPr>
              <a:t>leave</a:t>
            </a:r>
            <a:r>
              <a:rPr lang="en" sz="1050">
                <a:solidFill>
                  <a:srgbClr val="3C4043"/>
                </a:solidFill>
              </a:rPr>
              <a:t>: How easy is it for you to take medical leave for a mental health condition?</a:t>
            </a:r>
            <a:endParaRPr sz="1050">
              <a:solidFill>
                <a:srgbClr val="3C4043"/>
              </a:solidFill>
            </a:endParaRPr>
          </a:p>
          <a:p>
            <a:pPr indent="-295275" lvl="0" marL="457200" rtl="0" algn="l">
              <a:spcBef>
                <a:spcPts val="0"/>
              </a:spcBef>
              <a:spcAft>
                <a:spcPts val="0"/>
              </a:spcAft>
              <a:buClr>
                <a:srgbClr val="3C4043"/>
              </a:buClr>
              <a:buSzPts val="1050"/>
              <a:buChar char="●"/>
            </a:pPr>
            <a:r>
              <a:rPr b="1" lang="en" sz="1050">
                <a:solidFill>
                  <a:srgbClr val="3C4043"/>
                </a:solidFill>
              </a:rPr>
              <a:t>mental_health_consequence</a:t>
            </a:r>
            <a:r>
              <a:rPr lang="en" sz="1050">
                <a:solidFill>
                  <a:srgbClr val="3C4043"/>
                </a:solidFill>
              </a:rPr>
              <a:t>: Do you think that discussing a mental health issue with your employer would have negative consequences?</a:t>
            </a:r>
            <a:endParaRPr sz="1050">
              <a:solidFill>
                <a:srgbClr val="3C4043"/>
              </a:solidFill>
            </a:endParaRPr>
          </a:p>
          <a:p>
            <a:pPr indent="-295275" lvl="0" marL="457200" rtl="0" algn="l">
              <a:spcBef>
                <a:spcPts val="0"/>
              </a:spcBef>
              <a:spcAft>
                <a:spcPts val="0"/>
              </a:spcAft>
              <a:buClr>
                <a:srgbClr val="3C4043"/>
              </a:buClr>
              <a:buSzPts val="1050"/>
              <a:buChar char="●"/>
            </a:pPr>
            <a:r>
              <a:rPr b="1" lang="en" sz="1050">
                <a:solidFill>
                  <a:srgbClr val="3C4043"/>
                </a:solidFill>
              </a:rPr>
              <a:t>phys_health_consequence</a:t>
            </a:r>
            <a:r>
              <a:rPr lang="en" sz="1050">
                <a:solidFill>
                  <a:srgbClr val="3C4043"/>
                </a:solidFill>
              </a:rPr>
              <a:t>: Do you think that discussing a physical health issue with your employer would have negative consequences?</a:t>
            </a:r>
            <a:endParaRPr sz="1050">
              <a:solidFill>
                <a:srgbClr val="3C4043"/>
              </a:solidFill>
            </a:endParaRPr>
          </a:p>
          <a:p>
            <a:pPr indent="-295275" lvl="0" marL="457200" rtl="0" algn="l">
              <a:spcBef>
                <a:spcPts val="0"/>
              </a:spcBef>
              <a:spcAft>
                <a:spcPts val="0"/>
              </a:spcAft>
              <a:buClr>
                <a:srgbClr val="3C4043"/>
              </a:buClr>
              <a:buSzPts val="1050"/>
              <a:buChar char="●"/>
            </a:pPr>
            <a:r>
              <a:rPr b="1" lang="en" sz="1050">
                <a:solidFill>
                  <a:srgbClr val="3C4043"/>
                </a:solidFill>
              </a:rPr>
              <a:t>coworkers</a:t>
            </a:r>
            <a:r>
              <a:rPr lang="en" sz="1050">
                <a:solidFill>
                  <a:srgbClr val="3C4043"/>
                </a:solidFill>
              </a:rPr>
              <a:t>: Would you be willing to discuss a mental health issue with your coworkers?</a:t>
            </a:r>
            <a:endParaRPr sz="1050">
              <a:solidFill>
                <a:srgbClr val="3C4043"/>
              </a:solidFill>
            </a:endParaRPr>
          </a:p>
          <a:p>
            <a:pPr indent="-295275" lvl="0" marL="457200" rtl="0" algn="l">
              <a:spcBef>
                <a:spcPts val="0"/>
              </a:spcBef>
              <a:spcAft>
                <a:spcPts val="0"/>
              </a:spcAft>
              <a:buClr>
                <a:srgbClr val="3C4043"/>
              </a:buClr>
              <a:buSzPts val="1050"/>
              <a:buChar char="●"/>
            </a:pPr>
            <a:r>
              <a:rPr b="1" lang="en" sz="1050">
                <a:solidFill>
                  <a:srgbClr val="3C4043"/>
                </a:solidFill>
              </a:rPr>
              <a:t>supervisor</a:t>
            </a:r>
            <a:r>
              <a:rPr lang="en" sz="1050">
                <a:solidFill>
                  <a:srgbClr val="3C4043"/>
                </a:solidFill>
              </a:rPr>
              <a:t>: Would you be willing to discuss a mental health issue with your direct supervisor(s)?</a:t>
            </a:r>
            <a:endParaRPr sz="1050">
              <a:solidFill>
                <a:srgbClr val="3C4043"/>
              </a:solidFill>
            </a:endParaRPr>
          </a:p>
          <a:p>
            <a:pPr indent="-295275" lvl="0" marL="457200" rtl="0" algn="l">
              <a:spcBef>
                <a:spcPts val="0"/>
              </a:spcBef>
              <a:spcAft>
                <a:spcPts val="0"/>
              </a:spcAft>
              <a:buClr>
                <a:srgbClr val="3C4043"/>
              </a:buClr>
              <a:buSzPts val="1050"/>
              <a:buChar char="●"/>
            </a:pPr>
            <a:r>
              <a:rPr b="1" lang="en" sz="1050">
                <a:solidFill>
                  <a:srgbClr val="3C4043"/>
                </a:solidFill>
              </a:rPr>
              <a:t>mental_health_interview</a:t>
            </a:r>
            <a:r>
              <a:rPr lang="en" sz="1050">
                <a:solidFill>
                  <a:srgbClr val="3C4043"/>
                </a:solidFill>
              </a:rPr>
              <a:t>: Would you bring up a mental health issue with a potential employer in an interview?</a:t>
            </a:r>
            <a:endParaRPr sz="1050">
              <a:solidFill>
                <a:srgbClr val="3C4043"/>
              </a:solidFill>
            </a:endParaRPr>
          </a:p>
          <a:p>
            <a:pPr indent="-295275" lvl="0" marL="457200" rtl="0" algn="l">
              <a:spcBef>
                <a:spcPts val="0"/>
              </a:spcBef>
              <a:spcAft>
                <a:spcPts val="0"/>
              </a:spcAft>
              <a:buClr>
                <a:srgbClr val="3C4043"/>
              </a:buClr>
              <a:buSzPts val="1050"/>
              <a:buChar char="●"/>
            </a:pPr>
            <a:r>
              <a:t/>
            </a:r>
            <a:endParaRPr sz="1050">
              <a:solidFill>
                <a:srgbClr val="3C4043"/>
              </a:solidFill>
            </a:endParaRPr>
          </a:p>
          <a:p>
            <a:pPr indent="0" lvl="0" marL="0" rtl="0" algn="l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19"/>
          <p:cNvSpPr txBox="1"/>
          <p:nvPr>
            <p:ph idx="1" type="body"/>
          </p:nvPr>
        </p:nvSpPr>
        <p:spPr>
          <a:xfrm>
            <a:off x="376000" y="11267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5275" lvl="0" marL="457200" rtl="0" algn="l">
              <a:spcBef>
                <a:spcPts val="2400"/>
              </a:spcBef>
              <a:spcAft>
                <a:spcPts val="0"/>
              </a:spcAft>
              <a:buClr>
                <a:srgbClr val="3C4043"/>
              </a:buClr>
              <a:buSzPts val="1050"/>
              <a:buChar char="●"/>
            </a:pPr>
            <a:r>
              <a:rPr b="1" lang="en" sz="1050">
                <a:solidFill>
                  <a:srgbClr val="3C4043"/>
                </a:solidFill>
              </a:rPr>
              <a:t>phys_health_interview</a:t>
            </a:r>
            <a:r>
              <a:rPr lang="en" sz="1050">
                <a:solidFill>
                  <a:srgbClr val="3C4043"/>
                </a:solidFill>
              </a:rPr>
              <a:t>: Would you bring up a physical health issue with a potential employer in an interview?</a:t>
            </a:r>
            <a:endParaRPr sz="1050">
              <a:solidFill>
                <a:srgbClr val="3C4043"/>
              </a:solidFill>
            </a:endParaRPr>
          </a:p>
          <a:p>
            <a:pPr indent="-295275" lvl="0" marL="457200" rtl="0" algn="l">
              <a:spcBef>
                <a:spcPts val="0"/>
              </a:spcBef>
              <a:spcAft>
                <a:spcPts val="0"/>
              </a:spcAft>
              <a:buClr>
                <a:srgbClr val="3C4043"/>
              </a:buClr>
              <a:buSzPts val="1050"/>
              <a:buChar char="●"/>
            </a:pPr>
            <a:r>
              <a:rPr b="1" lang="en" sz="1050">
                <a:solidFill>
                  <a:srgbClr val="3C4043"/>
                </a:solidFill>
              </a:rPr>
              <a:t>mental_vs_physical</a:t>
            </a:r>
            <a:r>
              <a:rPr lang="en" sz="1050">
                <a:solidFill>
                  <a:srgbClr val="3C4043"/>
                </a:solidFill>
              </a:rPr>
              <a:t>: Do you feel that your employer takes mental health as seriously as physical health?</a:t>
            </a:r>
            <a:endParaRPr sz="1050">
              <a:solidFill>
                <a:srgbClr val="3C4043"/>
              </a:solidFill>
            </a:endParaRPr>
          </a:p>
          <a:p>
            <a:pPr indent="-295275" lvl="0" marL="457200" rtl="0" algn="l">
              <a:spcBef>
                <a:spcPts val="0"/>
              </a:spcBef>
              <a:spcAft>
                <a:spcPts val="0"/>
              </a:spcAft>
              <a:buClr>
                <a:srgbClr val="3C4043"/>
              </a:buClr>
              <a:buSzPts val="1050"/>
              <a:buChar char="●"/>
            </a:pPr>
            <a:r>
              <a:rPr b="1" lang="en" sz="1050">
                <a:solidFill>
                  <a:srgbClr val="3C4043"/>
                </a:solidFill>
              </a:rPr>
              <a:t>obs_consequence</a:t>
            </a:r>
            <a:r>
              <a:rPr lang="en" sz="1050">
                <a:solidFill>
                  <a:srgbClr val="3C4043"/>
                </a:solidFill>
              </a:rPr>
              <a:t>: Have you heard of or observed negative consequences for coworkers with mental health conditions in your workplace?</a:t>
            </a:r>
            <a:endParaRPr sz="1050">
              <a:solidFill>
                <a:srgbClr val="3C4043"/>
              </a:solidFill>
            </a:endParaRPr>
          </a:p>
          <a:p>
            <a:pPr indent="-295275" lvl="0" marL="457200" rtl="0" algn="l">
              <a:spcBef>
                <a:spcPts val="0"/>
              </a:spcBef>
              <a:spcAft>
                <a:spcPts val="0"/>
              </a:spcAft>
              <a:buClr>
                <a:srgbClr val="3C4043"/>
              </a:buClr>
              <a:buSzPts val="1050"/>
              <a:buChar char="●"/>
            </a:pPr>
            <a:r>
              <a:rPr b="1" lang="en" sz="1050">
                <a:solidFill>
                  <a:srgbClr val="3C4043"/>
                </a:solidFill>
              </a:rPr>
              <a:t>comments</a:t>
            </a:r>
            <a:r>
              <a:rPr lang="en" sz="1050">
                <a:solidFill>
                  <a:srgbClr val="3C4043"/>
                </a:solidFill>
              </a:rPr>
              <a:t>: Any additional notes or comments</a:t>
            </a:r>
            <a:endParaRPr sz="1050">
              <a:solidFill>
                <a:srgbClr val="3C4043"/>
              </a:solidFill>
            </a:endParaRPr>
          </a:p>
          <a:p>
            <a:pPr indent="0" lvl="0" marL="0" rtl="0" algn="l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22222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50">
                <a:solidFill>
                  <a:srgbClr val="202124"/>
                </a:solidFill>
              </a:rPr>
              <a:t>Inspiration</a:t>
            </a:r>
            <a:endParaRPr b="1" sz="1350">
              <a:solidFill>
                <a:srgbClr val="202124"/>
              </a:solidFill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>
                <a:solidFill>
                  <a:srgbClr val="3C4043"/>
                </a:solidFill>
              </a:rPr>
              <a:t>Some questions worth exploring:</a:t>
            </a:r>
            <a:endParaRPr sz="1050">
              <a:solidFill>
                <a:srgbClr val="3C4043"/>
              </a:solidFill>
            </a:endParaRPr>
          </a:p>
          <a:p>
            <a:pPr indent="-295275" lvl="0" marL="457200" rtl="0" algn="l">
              <a:spcBef>
                <a:spcPts val="2400"/>
              </a:spcBef>
              <a:spcAft>
                <a:spcPts val="0"/>
              </a:spcAft>
              <a:buClr>
                <a:srgbClr val="3C4043"/>
              </a:buClr>
              <a:buSzPts val="1050"/>
              <a:buAutoNum type="arabicPeriod"/>
            </a:pPr>
            <a:r>
              <a:rPr lang="en" sz="1050">
                <a:solidFill>
                  <a:srgbClr val="3C4043"/>
                </a:solidFill>
              </a:rPr>
              <a:t>How does the frequency of mental health illness and attitudes towards mental health vary by geographic location?</a:t>
            </a:r>
            <a:endParaRPr sz="1050">
              <a:solidFill>
                <a:srgbClr val="3C4043"/>
              </a:solidFill>
            </a:endParaRPr>
          </a:p>
          <a:p>
            <a:pPr indent="-295275" lvl="0" marL="457200" rtl="0" algn="l">
              <a:spcBef>
                <a:spcPts val="0"/>
              </a:spcBef>
              <a:spcAft>
                <a:spcPts val="0"/>
              </a:spcAft>
              <a:buClr>
                <a:srgbClr val="3C4043"/>
              </a:buClr>
              <a:buSzPts val="1050"/>
              <a:buAutoNum type="arabicPeriod"/>
            </a:pPr>
            <a:r>
              <a:rPr lang="en" sz="1050">
                <a:solidFill>
                  <a:srgbClr val="3C4043"/>
                </a:solidFill>
              </a:rPr>
              <a:t>What are the strongest predictors of mental health illness or certain attitudes towards mental health in the workplace?</a:t>
            </a:r>
            <a:endParaRPr sz="1050">
              <a:solidFill>
                <a:srgbClr val="3C4043"/>
              </a:solidFill>
            </a:endParaRPr>
          </a:p>
          <a:p>
            <a:pPr indent="0" lvl="0" marL="0" rtl="0" algn="l">
              <a:lnSpc>
                <a:spcPct val="122222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50">
                <a:solidFill>
                  <a:srgbClr val="202124"/>
                </a:solidFill>
              </a:rPr>
              <a:t>Acknowledgements</a:t>
            </a:r>
            <a:endParaRPr b="1" sz="1350">
              <a:solidFill>
                <a:srgbClr val="202124"/>
              </a:solidFill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>
                <a:solidFill>
                  <a:srgbClr val="3C4043"/>
                </a:solidFill>
              </a:rPr>
              <a:t>The original dataset is from Open Sourcing Mental Illness and can be downloaded </a:t>
            </a:r>
            <a:r>
              <a:rPr lang="en" sz="1050">
                <a:solidFill>
                  <a:srgbClr val="202124"/>
                </a:solidFill>
                <a:uFill>
                  <a:noFill/>
                </a:u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here</a:t>
            </a:r>
            <a:r>
              <a:rPr lang="en" sz="1050">
                <a:solidFill>
                  <a:srgbClr val="3C4043"/>
                </a:solidFill>
              </a:rPr>
              <a:t>.</a:t>
            </a:r>
            <a:endParaRPr sz="1050">
              <a:solidFill>
                <a:srgbClr val="3C4043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Apply your own </a:t>
            </a:r>
            <a:r>
              <a:rPr lang="en"/>
              <a:t>logic</a:t>
            </a:r>
            <a:r>
              <a:rPr lang="en"/>
              <a:t> in addition to this to Explore the data.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Submissions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EDA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video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